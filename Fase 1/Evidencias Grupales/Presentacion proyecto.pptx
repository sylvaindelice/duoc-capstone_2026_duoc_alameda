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3073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931920"/>
            <a:ext cx="4206240" cy="4206240"/>
          </a:xfrm>
          <a:prstGeom prst="ellipse">
            <a:avLst/>
          </a:prstGeom>
          <a:solidFill>
            <a:srgbClr val="161C4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0332720" y="4572000"/>
            <a:ext cx="2926080" cy="2926080"/>
          </a:xfrm>
          <a:prstGeom prst="ellipse">
            <a:avLst/>
          </a:prstGeom>
          <a:ln w="1905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0881360" y="5120640"/>
            <a:ext cx="1828800" cy="1828800"/>
          </a:xfrm>
          <a:prstGeom prst="ellipse">
            <a:avLst/>
          </a:prstGeom>
          <a:ln w="1905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PROYECTO DE TÍTULO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9052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móvil de verificación de identidad mediante comparación biométrica facial para control de acceso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 desarrollada en Python  ·  Ingeniería Informática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5989320"/>
            <a:ext cx="1828800" cy="0"/>
          </a:xfrm>
          <a:prstGeom prst="line">
            <a:avLst/>
          </a:prstGeom>
          <a:noFill/>
          <a:ln w="254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avance  ·  Agosto 2026</a:t>
            </a:r>
            <a:endParaRPr lang="en-US" sz="13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E65981D-96AF-A952-2177-2206581205A4}"/>
              </a:ext>
            </a:extLst>
          </p:cNvPr>
          <p:cNvSpPr txBox="1"/>
          <p:nvPr/>
        </p:nvSpPr>
        <p:spPr>
          <a:xfrm>
            <a:off x="640080" y="5091668"/>
            <a:ext cx="1641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SYLVAIN DELICE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Problemática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los métodos de control de acceso actuales no son suficientes?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5F8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960120" y="22402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202" y="24423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físicas vulnerables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7947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y carnets pueden prestarse, perderse o robarse, permitiendo que una persona ingrese haciéndose pasar por otra.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9202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5F8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4709160" y="22402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1242" y="244236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200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visual manual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7947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verificación de identidad a cargo de un guardia u operador depende de su criterio, y está sujeta a error y fatiga.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9202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5F8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1"/>
          <p:cNvSpPr/>
          <p:nvPr/>
        </p:nvSpPr>
        <p:spPr>
          <a:xfrm>
            <a:off x="8458200" y="22402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0282" y="244236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200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 auditable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12480" y="37947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estos controles no dejan evidencia digital verificable de quién intentó acceder ni cuándo.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685800"/>
            <a:ext cx="1371600" cy="137160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864" y="1042416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63040" y="2834640"/>
            <a:ext cx="92628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Desarrollar una aplicación móvil que verifique la identidad de una persona comparando una fotografía capturada en vivo con la fotografía de su documento de identidad, para otorgar o denegar el acceso a un recinto o sistema.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731520" cy="73152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165323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4173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imágenes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554480" y="187452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Fotografiar el documento de identidad y una selfie en vivo desde la app móvil.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172200" y="1463040"/>
            <a:ext cx="731520" cy="73152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395" y="1653235"/>
            <a:ext cx="351130" cy="3511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86600" y="14173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biométrica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086600" y="187452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el rostro en ambas imágenes y generar sus representaciones vectoriales (embeddings).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246120"/>
            <a:ext cx="731520" cy="73152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" y="3436315"/>
            <a:ext cx="351130" cy="3511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2004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y registro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554480" y="365760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los embeddings contra un umbral y registrar cada verificación realizada.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172200" y="3246120"/>
            <a:ext cx="731520" cy="73152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2395" y="3436315"/>
            <a:ext cx="351130" cy="35113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86600" y="32004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desempeño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7086600" y="365760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exactitud, tasa de falsos positivos (FAR) y falsos negativos (FRR) del sistema.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40080" y="51663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275" y="5356555"/>
            <a:ext cx="351130" cy="35113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54480" y="51206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horario y notificaciones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554480" y="55778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entradas y salidas con acceso 24/7, enviando un correo de confirmación por cada evento y recordatorios automáticos si pasan 24 horas sin una nueva entrada.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cliente–servidor: el procesamiento biométrico ocurre en el backend, no en el dispositivo.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063240" cy="2011680"/>
          </a:xfrm>
          <a:prstGeom prst="roundRect">
            <a:avLst>
              <a:gd name="adj" fmla="val 5455"/>
            </a:avLst>
          </a:prstGeom>
          <a:solidFill>
            <a:srgbClr val="F5F8FF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783080" y="22860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7614" y="24405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4436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móvil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32186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Kivy / KivyMD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34747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la foto del documento y la selfie en vivo; muestra el resultado.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26280" y="2103120"/>
            <a:ext cx="3063240" cy="2011680"/>
          </a:xfrm>
          <a:prstGeom prst="roundRect">
            <a:avLst>
              <a:gd name="adj" fmla="val 5455"/>
            </a:avLst>
          </a:prstGeom>
          <a:solidFill>
            <a:srgbClr val="F5F8FF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5760720" y="22860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5254" y="244053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294436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709160" y="32186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OpenCV / face_recognition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754880" y="34747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el rostro, extrae embeddings y calcula la similitud contra el umbral.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503920" y="2103120"/>
            <a:ext cx="3063240" cy="2011680"/>
          </a:xfrm>
          <a:prstGeom prst="roundRect">
            <a:avLst>
              <a:gd name="adj" fmla="val 5455"/>
            </a:avLst>
          </a:prstGeom>
          <a:solidFill>
            <a:srgbClr val="F5F8FF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9738360" y="22860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2894" y="244053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86800" y="294436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686800" y="32186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732520" y="34747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fecha, puntaje y resultado de cada intento de verificación.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685032" y="2834640"/>
            <a:ext cx="768096" cy="548640"/>
          </a:xfrm>
          <a:prstGeom prst="rightArrow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18"/>
          <p:cNvSpPr/>
          <p:nvPr/>
        </p:nvSpPr>
        <p:spPr>
          <a:xfrm>
            <a:off x="7662672" y="2834640"/>
            <a:ext cx="768096" cy="548640"/>
          </a:xfrm>
          <a:prstGeom prst="rightArrow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19"/>
          <p:cNvSpPr/>
          <p:nvPr/>
        </p:nvSpPr>
        <p:spPr>
          <a:xfrm>
            <a:off x="3611880" y="1810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API REST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7589520" y="1810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+ log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893308" y="4169664"/>
            <a:ext cx="329184" cy="384048"/>
          </a:xfrm>
          <a:prstGeom prst="downArrow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22"/>
          <p:cNvSpPr/>
          <p:nvPr/>
        </p:nvSpPr>
        <p:spPr>
          <a:xfrm>
            <a:off x="4526280" y="461772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5F8FF"/>
          </a:solidFill>
          <a:ln w="12700">
            <a:solidFill>
              <a:srgbClr val="00B8A9"/>
            </a:solidFill>
            <a:prstDash val="solid"/>
          </a:ln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Shape 23"/>
          <p:cNvSpPr/>
          <p:nvPr/>
        </p:nvSpPr>
        <p:spPr>
          <a:xfrm>
            <a:off x="5760720" y="4782312"/>
            <a:ext cx="594360" cy="59436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5254" y="4936846"/>
            <a:ext cx="285293" cy="28529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709160" y="5440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4709160" y="56967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+ Scheduler (ventana móvil 24h)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delega el reconocimiento facial al backend, que también dispara los correos de entrada/salida y recordatorios de asistencia.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verificación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207008" y="1709928"/>
            <a:ext cx="0" cy="402336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144475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captura una fotografía de su documento de identidad.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14400" y="222199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914400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224942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captura una selfie en vivo.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14400" y="3026664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914400" y="302666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305409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envía ambas imágenes al backend mediante la API REST.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14400" y="3831336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914400" y="383133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385876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detecta el rostro en cada imagen y extrae su embedding facial.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14400" y="463600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914400" y="46360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28800" y="466344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calcula la similitud entre ambos embeddings y se compara contra el umbral.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14400" y="5440680"/>
            <a:ext cx="585216" cy="585216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914400" y="54406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28800" y="546811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el resultado y la app muestra: acceso concedido o denegado.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asistencia y notificaciones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disponible 24/7  ·  ventana móvil de 24 horas por persona, no un horario fijo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965960" y="3771900"/>
            <a:ext cx="8257032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531620" y="333756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477" y="356341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4434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entrada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4828032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la entrada y se envía de inmediato un correo de confirmación.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631436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+20h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660136" y="3337560"/>
            <a:ext cx="868680" cy="86868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993" y="3563417"/>
            <a:ext cx="416966" cy="416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1436" y="4434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previo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85716" y="4828032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hay una nueva entrada registrada, la persona recibe un correo recordatorio.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759952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+24h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9788652" y="333756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4509" y="3563417"/>
            <a:ext cx="416966" cy="41696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59952" y="4434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final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714232" y="4828032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revisa nuevamente: sin entrada registrada, se envía un correo de aviso de inasistencia.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22960" y="5989320"/>
            <a:ext cx="10543032" cy="594360"/>
          </a:xfrm>
          <a:prstGeom prst="roundRect">
            <a:avLst>
              <a:gd name="adj" fmla="val 12308"/>
            </a:avLst>
          </a:prstGeom>
          <a:solidFill>
            <a:srgbClr val="F5F8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6"/>
          <p:cNvSpPr/>
          <p:nvPr/>
        </p:nvSpPr>
        <p:spPr>
          <a:xfrm>
            <a:off x="1051560" y="5989320"/>
            <a:ext cx="10085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conteo es individual por persona: funciona igual sin importar si su turno es, por ejemplo, de 08:00 a 18:00 o de 09:00 a 20:00.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2523744" cy="1828800"/>
          </a:xfrm>
          <a:prstGeom prst="roundRect">
            <a:avLst>
              <a:gd name="adj" fmla="val 5000"/>
            </a:avLst>
          </a:prstGeom>
          <a:solidFill>
            <a:srgbClr val="F5F8FF"/>
          </a:solidFill>
          <a:ln/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96112" y="176479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646" y="1919326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4688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móvil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68680" y="280720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Kivy / KivyMD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438144" y="1508760"/>
            <a:ext cx="2523744" cy="1828800"/>
          </a:xfrm>
          <a:prstGeom prst="roundRect">
            <a:avLst>
              <a:gd name="adj" fmla="val 5000"/>
            </a:avLst>
          </a:prstGeom>
          <a:solidFill>
            <a:srgbClr val="F5F8FF"/>
          </a:solidFill>
          <a:ln/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3694176" y="176479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710" y="1919326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66744" y="24688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666744" y="280720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36208" y="1508760"/>
            <a:ext cx="2523744" cy="1828800"/>
          </a:xfrm>
          <a:prstGeom prst="roundRect">
            <a:avLst>
              <a:gd name="adj" fmla="val 5000"/>
            </a:avLst>
          </a:prstGeom>
          <a:solidFill>
            <a:srgbClr val="F5F8FF"/>
          </a:solidFill>
          <a:ln/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0"/>
          <p:cNvSpPr/>
          <p:nvPr/>
        </p:nvSpPr>
        <p:spPr>
          <a:xfrm>
            <a:off x="6492240" y="176479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6774" y="1919326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64808" y="24688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computacional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464808" y="280720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+ face_recognition / DeepFace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9034272" y="1508760"/>
            <a:ext cx="2523744" cy="1828800"/>
          </a:xfrm>
          <a:prstGeom prst="roundRect">
            <a:avLst>
              <a:gd name="adj" fmla="val 5000"/>
            </a:avLst>
          </a:prstGeom>
          <a:solidFill>
            <a:srgbClr val="F5F8FF"/>
          </a:solidFill>
          <a:ln/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4"/>
          <p:cNvSpPr/>
          <p:nvPr/>
        </p:nvSpPr>
        <p:spPr>
          <a:xfrm>
            <a:off x="9290304" y="176479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4838" y="1919326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62872" y="24688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9262872" y="280720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(dev) / PostgreSQL (prod)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2039112" y="3611880"/>
            <a:ext cx="2523744" cy="1828800"/>
          </a:xfrm>
          <a:prstGeom prst="roundRect">
            <a:avLst>
              <a:gd name="adj" fmla="val 5000"/>
            </a:avLst>
          </a:prstGeom>
          <a:solidFill>
            <a:srgbClr val="F5F8FF"/>
          </a:solidFill>
          <a:ln/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18"/>
          <p:cNvSpPr/>
          <p:nvPr/>
        </p:nvSpPr>
        <p:spPr>
          <a:xfrm>
            <a:off x="2295144" y="386791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9678" y="4022446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267712" y="45720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2267712" y="491032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Correo: smtplib / SendGrid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4837176" y="3611880"/>
            <a:ext cx="2523744" cy="1828800"/>
          </a:xfrm>
          <a:prstGeom prst="roundRect">
            <a:avLst>
              <a:gd name="adj" fmla="val 5000"/>
            </a:avLst>
          </a:prstGeom>
          <a:solidFill>
            <a:srgbClr val="F5F8FF"/>
          </a:solidFill>
          <a:ln/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2"/>
          <p:cNvSpPr/>
          <p:nvPr/>
        </p:nvSpPr>
        <p:spPr>
          <a:xfrm>
            <a:off x="5093208" y="386791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7742" y="4022446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065776" y="45720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5065776" y="491032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(ventana móvil de 24h)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7635240" y="3611880"/>
            <a:ext cx="2523744" cy="1828800"/>
          </a:xfrm>
          <a:prstGeom prst="roundRect">
            <a:avLst>
              <a:gd name="adj" fmla="val 5000"/>
            </a:avLst>
          </a:prstGeom>
          <a:solidFill>
            <a:srgbClr val="F5F8FF"/>
          </a:solidFill>
          <a:ln/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4" name="Shape 26"/>
          <p:cNvSpPr/>
          <p:nvPr/>
        </p:nvSpPr>
        <p:spPr>
          <a:xfrm>
            <a:off x="7891272" y="386791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5806" y="4022446"/>
            <a:ext cx="285293" cy="285293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863840" y="45720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Versionamiento</a:t>
            </a:r>
            <a:endParaRPr lang="en-US" sz="1350" dirty="0"/>
          </a:p>
        </p:txBody>
      </p:sp>
      <p:sp>
        <p:nvSpPr>
          <p:cNvPr id="37" name="Text 28"/>
          <p:cNvSpPr/>
          <p:nvPr/>
        </p:nvSpPr>
        <p:spPr>
          <a:xfrm>
            <a:off x="7863840" y="491032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840480" cy="3840480"/>
          </a:xfrm>
          <a:prstGeom prst="ellipse">
            <a:avLst/>
          </a:prstGeom>
          <a:solidFill>
            <a:srgbClr val="161C4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13248" y="1280160"/>
            <a:ext cx="1371600" cy="137160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864" y="163677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703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 son bienvenidos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639</Words>
  <Application>Microsoft Office PowerPoint</Application>
  <PresentationFormat>Panorámica</PresentationFormat>
  <Paragraphs>93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SYLVAIN . DELICE DELICE</cp:lastModifiedBy>
  <cp:revision>2</cp:revision>
  <dcterms:created xsi:type="dcterms:W3CDTF">2026-09-08T23:20:38Z</dcterms:created>
  <dcterms:modified xsi:type="dcterms:W3CDTF">2026-09-08T23:32:14Z</dcterms:modified>
</cp:coreProperties>
</file>